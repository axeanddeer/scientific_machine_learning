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68" r:id="rId3"/>
    <p:sldId id="258" r:id="rId4"/>
    <p:sldId id="270" r:id="rId5"/>
    <p:sldId id="261" r:id="rId6"/>
    <p:sldId id="266" r:id="rId7"/>
    <p:sldId id="259" r:id="rId8"/>
    <p:sldId id="260" r:id="rId9"/>
    <p:sldId id="269" r:id="rId10"/>
    <p:sldId id="271" r:id="rId11"/>
    <p:sldId id="273" r:id="rId12"/>
    <p:sldId id="272" r:id="rId13"/>
    <p:sldId id="263" r:id="rId14"/>
    <p:sldId id="276" r:id="rId15"/>
    <p:sldId id="264" r:id="rId16"/>
    <p:sldId id="265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64"/>
    <p:restoredTop sz="94609"/>
  </p:normalViewPr>
  <p:slideViewPr>
    <p:cSldViewPr snapToGrid="0" snapToObjects="1">
      <p:cViewPr varScale="1">
        <p:scale>
          <a:sx n="193" d="100"/>
          <a:sy n="193" d="100"/>
        </p:scale>
        <p:origin x="224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4378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K_</a:t>
            </a:r>
            <a:r>
              <a:rPr lang="el-G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ρ (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kappa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turbulent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diapycnal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diffusivity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measures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effective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vertical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diffusion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rate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density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(neutral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density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surfaces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due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small-scale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turbulence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1675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1051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5824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0613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3452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5469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8356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6530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38/s41561-021-00854-9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75452" y="1339230"/>
            <a:ext cx="599302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Ocean Learning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2398385" y="2177430"/>
            <a:ext cx="4347231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Small-Scale Turbulence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2071473" y="2893665"/>
            <a:ext cx="500105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Approaches to Predicting Ocean Mixing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573885" y="3617565"/>
            <a:ext cx="199615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Mashayek et al. (2022)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350041" y="440141"/>
            <a:ext cx="2401025" cy="25406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Introduction</a:t>
            </a:r>
            <a:endParaRPr lang="en-US" sz="3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07694" y="487110"/>
            <a:ext cx="4916510" cy="41595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l-GR" sz="1500" dirty="0"/>
              <a:t>ε</a:t>
            </a:r>
            <a:r>
              <a:rPr lang="de-DE" sz="1500" dirty="0"/>
              <a:t>: turbulent </a:t>
            </a:r>
            <a:r>
              <a:rPr lang="de-DE" sz="1500" dirty="0" err="1"/>
              <a:t>kinetic</a:t>
            </a:r>
            <a:r>
              <a:rPr lang="de-DE" sz="1500" dirty="0"/>
              <a:t> </a:t>
            </a:r>
            <a:r>
              <a:rPr lang="de-DE" sz="1500" dirty="0" err="1"/>
              <a:t>energy</a:t>
            </a:r>
            <a:r>
              <a:rPr lang="de-DE" sz="1500" dirty="0"/>
              <a:t> </a:t>
            </a:r>
            <a:r>
              <a:rPr lang="de-DE" sz="1500" dirty="0" err="1"/>
              <a:t>dissipation</a:t>
            </a:r>
            <a:r>
              <a:rPr lang="de-DE" sz="1500" dirty="0"/>
              <a:t> per </a:t>
            </a:r>
            <a:r>
              <a:rPr lang="de-DE" sz="1500" dirty="0" err="1"/>
              <a:t>unit</a:t>
            </a:r>
            <a:r>
              <a:rPr lang="de-DE" sz="1500" dirty="0"/>
              <a:t> </a:t>
            </a:r>
            <a:r>
              <a:rPr lang="de-DE" sz="1500" dirty="0" err="1"/>
              <a:t>mass</a:t>
            </a:r>
            <a:endParaRPr lang="de-DE" sz="1500" dirty="0"/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de-DE" sz="1500" dirty="0"/>
              <a:t>Essential </a:t>
            </a:r>
            <a:r>
              <a:rPr lang="de-DE" sz="1500" dirty="0" err="1"/>
              <a:t>for</a:t>
            </a:r>
            <a:r>
              <a:rPr lang="de-DE" sz="1500" dirty="0"/>
              <a:t> </a:t>
            </a:r>
            <a:r>
              <a:rPr lang="de-DE" sz="1500" dirty="0" err="1"/>
              <a:t>ocean</a:t>
            </a:r>
            <a:r>
              <a:rPr lang="de-DE" sz="1500" dirty="0"/>
              <a:t> </a:t>
            </a:r>
            <a:r>
              <a:rPr lang="de-DE" sz="1500" dirty="0" err="1"/>
              <a:t>modeling</a:t>
            </a:r>
            <a:r>
              <a:rPr lang="de-DE" sz="1500" dirty="0"/>
              <a:t> </a:t>
            </a:r>
            <a:r>
              <a:rPr lang="de-DE" sz="1500" dirty="0" err="1"/>
              <a:t>ocean</a:t>
            </a:r>
            <a:r>
              <a:rPr lang="de-DE" sz="1500" dirty="0"/>
              <a:t> </a:t>
            </a:r>
            <a:r>
              <a:rPr lang="de-DE" sz="1500" dirty="0" err="1"/>
              <a:t>mixing</a:t>
            </a:r>
            <a:r>
              <a:rPr lang="de-DE" sz="1500" dirty="0"/>
              <a:t>, </a:t>
            </a:r>
            <a:r>
              <a:rPr lang="de-DE" sz="1500" dirty="0" err="1"/>
              <a:t>heat</a:t>
            </a:r>
            <a:r>
              <a:rPr lang="de-DE" sz="1500" dirty="0"/>
              <a:t>/</a:t>
            </a:r>
            <a:r>
              <a:rPr lang="de-DE" sz="1500" dirty="0" err="1"/>
              <a:t>carbon</a:t>
            </a:r>
            <a:r>
              <a:rPr lang="de-DE" sz="1500" dirty="0"/>
              <a:t> </a:t>
            </a:r>
            <a:r>
              <a:rPr lang="de-DE" sz="1500" dirty="0" err="1"/>
              <a:t>transport</a:t>
            </a:r>
            <a:r>
              <a:rPr lang="de-DE" sz="1500" dirty="0"/>
              <a:t>, </a:t>
            </a:r>
            <a:r>
              <a:rPr lang="de-DE" sz="1500" dirty="0" err="1"/>
              <a:t>climate</a:t>
            </a:r>
            <a:r>
              <a:rPr lang="de-DE" sz="1500" dirty="0"/>
              <a:t> </a:t>
            </a:r>
            <a:r>
              <a:rPr lang="de-DE" sz="1500" dirty="0" err="1"/>
              <a:t>simulations</a:t>
            </a:r>
            <a:endParaRPr lang="de-DE" sz="1500" dirty="0"/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 dirty="0"/>
              <a:t>Problem: Measuring </a:t>
            </a:r>
            <a:r>
              <a:rPr lang="el-GR" sz="1500" dirty="0"/>
              <a:t>ε</a:t>
            </a:r>
            <a:r>
              <a:rPr lang="de-DE" sz="1500" dirty="0"/>
              <a:t> </a:t>
            </a:r>
            <a:r>
              <a:rPr lang="de-DE" sz="1500" dirty="0" err="1"/>
              <a:t>is</a:t>
            </a:r>
            <a:r>
              <a:rPr lang="de-DE" sz="1500" dirty="0"/>
              <a:t> </a:t>
            </a:r>
            <a:r>
              <a:rPr lang="de-DE" sz="1500" dirty="0" err="1"/>
              <a:t>costly</a:t>
            </a:r>
            <a:r>
              <a:rPr lang="de-DE" sz="1500" dirty="0"/>
              <a:t> (</a:t>
            </a:r>
            <a:r>
              <a:rPr lang="de-DE" sz="1500" dirty="0" err="1"/>
              <a:t>Microstructure</a:t>
            </a:r>
            <a:r>
              <a:rPr lang="de-DE" sz="1500" dirty="0"/>
              <a:t> Profilers)</a:t>
            </a:r>
            <a:r>
              <a:rPr lang="en-US" sz="1500" dirty="0"/>
              <a:t>, has not been done much in the past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 dirty="0"/>
              <a:t>CTD measurements are plentiful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 dirty="0"/>
              <a:t>Utilize NN/ML to predict </a:t>
            </a:r>
            <a:r>
              <a:rPr lang="el-GR" sz="1500" dirty="0"/>
              <a:t>ε</a:t>
            </a:r>
            <a:r>
              <a:rPr lang="de-DE" sz="1500" dirty="0"/>
              <a:t> out </a:t>
            </a:r>
            <a:r>
              <a:rPr lang="de-DE" sz="1500" dirty="0" err="1"/>
              <a:t>of</a:t>
            </a:r>
            <a:r>
              <a:rPr lang="de-DE" sz="1500" dirty="0"/>
              <a:t> CTD </a:t>
            </a:r>
            <a:r>
              <a:rPr lang="de-DE" sz="1500" dirty="0" err="1"/>
              <a:t>parameters</a:t>
            </a:r>
            <a:endParaRPr lang="de-DE" sz="1500" dirty="0"/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 dirty="0"/>
              <a:t>Predict turbulent diffusivity </a:t>
            </a:r>
            <a:r>
              <a:rPr lang="en-US" sz="1500" dirty="0" err="1"/>
              <a:t>κ</a:t>
            </a:r>
            <a:r>
              <a:rPr lang="en-US" sz="1500" dirty="0"/>
              <a:t> = </a:t>
            </a:r>
            <a:r>
              <a:rPr lang="en-US" sz="1500" dirty="0" err="1"/>
              <a:t>Γε</a:t>
            </a:r>
            <a:r>
              <a:rPr lang="en-US" sz="1500" dirty="0"/>
              <a:t>/N² from T, S, Z using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2203786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350041" y="440141"/>
            <a:ext cx="2401025" cy="25406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Literature Review</a:t>
            </a:r>
            <a:endParaRPr lang="en-US" sz="3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51654" y="487110"/>
            <a:ext cx="5072550" cy="41595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 dirty="0" err="1"/>
              <a:t>Finestructure</a:t>
            </a:r>
            <a:r>
              <a:rPr lang="en-US" sz="1500" dirty="0"/>
              <a:t> parameterizations suffer from restrictive assumptions (±2 orders of magnitude error) (Polzin 2014)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sz="1500" dirty="0"/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 dirty="0"/>
              <a:t>Direct </a:t>
            </a:r>
            <a:r>
              <a:rPr lang="en-US" sz="1500" dirty="0" err="1"/>
              <a:t>ε</a:t>
            </a:r>
            <a:r>
              <a:rPr lang="en-US" sz="1500" dirty="0"/>
              <a:t> measurement requires microstructure sensors measuring ∂u'ᵢ/∂xⱼ strain rates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 dirty="0"/>
              <a:t>Cael &amp; </a:t>
            </a:r>
            <a:r>
              <a:rPr lang="en-US" sz="1500" dirty="0" err="1"/>
              <a:t>Mashayek</a:t>
            </a:r>
            <a:r>
              <a:rPr lang="en-US" sz="1500" dirty="0"/>
              <a:t> (2021): Log-skew-normal universality in global turbulence distributions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 dirty="0"/>
              <a:t>Physics-informed ML: Combine observational data with nonlinear feature relationships 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 dirty="0"/>
              <a:t>Physical constraint improves the generalization of NN-based parameterization simulation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 dirty="0"/>
              <a:t>using limited observations and well-understood physical constraints to construct a physics-informed deep-learning parameterization for improved climate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C61BBA4-FA22-3FF9-D6E7-F6D38108B8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1429" y="1332283"/>
            <a:ext cx="4438835" cy="30402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350041" y="440141"/>
            <a:ext cx="2401025" cy="25406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Literature Review-</a:t>
            </a:r>
          </a:p>
          <a:p>
            <a:pPr marL="0" indent="0"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Results</a:t>
            </a:r>
            <a:endParaRPr lang="en-US" sz="3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07694" y="487110"/>
            <a:ext cx="4916510" cy="41595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sz="1500" dirty="0"/>
          </a:p>
        </p:txBody>
      </p:sp>
      <p:pic>
        <p:nvPicPr>
          <p:cNvPr id="5" name="Grafik 4" descr="Ein Bild, das Text, Diagramm, Zahl, Karte enthält.&#10;&#10;KI-generierte Inhalte können fehlerhaft sein.">
            <a:extLst>
              <a:ext uri="{FF2B5EF4-FFF2-40B4-BE49-F238E27FC236}">
                <a16:creationId xmlns:a16="http://schemas.microsoft.com/office/drawing/2014/main" id="{D277D5D9-8A29-1DA5-25B9-44F86BD7D7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2076" y="228339"/>
            <a:ext cx="5162128" cy="46716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DD97B6E-E55F-96B5-7ADB-9E0EEEC7DDCE}"/>
              </a:ext>
            </a:extLst>
          </p:cNvPr>
          <p:cNvSpPr txBox="1"/>
          <p:nvPr/>
        </p:nvSpPr>
        <p:spPr>
          <a:xfrm>
            <a:off x="4849868" y="43672"/>
            <a:ext cx="3028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Cael &amp; </a:t>
            </a:r>
            <a:r>
              <a:rPr lang="en-US" sz="1800" dirty="0" err="1"/>
              <a:t>Mashayek</a:t>
            </a:r>
            <a:r>
              <a:rPr lang="en-US" sz="1800" dirty="0"/>
              <a:t> (2021): 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885184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07694" y="487110"/>
            <a:ext cx="4916510" cy="41595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 dirty="0"/>
              <a:t>CART R² = 0.83 (</a:t>
            </a:r>
            <a:r>
              <a:rPr lang="en-US" sz="1500" dirty="0" err="1"/>
              <a:t>ε</a:t>
            </a:r>
            <a:r>
              <a:rPr lang="en-US" sz="1500" dirty="0"/>
              <a:t>), 0.84 (</a:t>
            </a:r>
            <a:r>
              <a:rPr lang="en-US" sz="1500" dirty="0" err="1"/>
              <a:t>κ</a:t>
            </a:r>
            <a:r>
              <a:rPr lang="en-US" sz="1500" dirty="0"/>
              <a:t>); NN R² ≥ 0.85 both targets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 dirty="0"/>
              <a:t>Feature importance: N² &gt; Z/H &gt; salinity gradients &gt; latitude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 dirty="0"/>
              <a:t>Out-of-distribution validation: Models trained on 12/13 experiments, tested on withheld experiment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 dirty="0"/>
              <a:t>DIMES comparison: ML predictions superior to Sheen et al. (2013) </a:t>
            </a:r>
            <a:r>
              <a:rPr lang="en-US" sz="1500" dirty="0" err="1"/>
              <a:t>finestructure</a:t>
            </a:r>
            <a:r>
              <a:rPr lang="en-US" sz="1500" dirty="0"/>
              <a:t> estimates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F60B5D-8563-AC22-9CDE-58CB47929D24}"/>
              </a:ext>
            </a:extLst>
          </p:cNvPr>
          <p:cNvSpPr txBox="1"/>
          <p:nvPr/>
        </p:nvSpPr>
        <p:spPr>
          <a:xfrm>
            <a:off x="4603500" y="127523"/>
            <a:ext cx="29011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Cael &amp; </a:t>
            </a:r>
            <a:r>
              <a:rPr lang="en-US" sz="1800" dirty="0" err="1"/>
              <a:t>Mashayek</a:t>
            </a:r>
            <a:r>
              <a:rPr lang="en-US" sz="1800" dirty="0"/>
              <a:t> (2021): </a:t>
            </a:r>
            <a:endParaRPr lang="en-DE" dirty="0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8ADBA7C9-BD74-EB9A-2FA8-B9F9D5B124AE}"/>
              </a:ext>
            </a:extLst>
          </p:cNvPr>
          <p:cNvSpPr/>
          <p:nvPr/>
        </p:nvSpPr>
        <p:spPr>
          <a:xfrm>
            <a:off x="350041" y="440141"/>
            <a:ext cx="2401025" cy="25406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Literature Review-</a:t>
            </a:r>
          </a:p>
          <a:p>
            <a:pPr marL="0" indent="0"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Results</a:t>
            </a:r>
            <a:endParaRPr lang="en-US" sz="3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350041" y="440141"/>
            <a:ext cx="2575689" cy="25406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Dataset Characteristics &amp; Preprocessing</a:t>
            </a:r>
            <a:endParaRPr lang="en-US" sz="3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275771" y="582707"/>
            <a:ext cx="5653076" cy="26843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/>
              <a:t>Post-processing: ~ 0.7 m resolution 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/>
              <a:t>Feature engineering: log₁₀(N²), S, T, Z, ∂S/∂z, ∂T/∂z, </a:t>
            </a:r>
            <a:r>
              <a:rPr lang="en-US" sz="1400" dirty="0" err="1"/>
              <a:t>hab</a:t>
            </a:r>
            <a:r>
              <a:rPr lang="en-US" sz="1400" dirty="0"/>
              <a:t> (GEBCO), </a:t>
            </a:r>
            <a:r>
              <a:rPr lang="en-US" sz="1400" dirty="0" err="1"/>
              <a:t>lat</a:t>
            </a:r>
            <a:r>
              <a:rPr lang="en-US" sz="1400" dirty="0"/>
              <a:t>, </a:t>
            </a:r>
            <a:r>
              <a:rPr lang="en-US" sz="1400" dirty="0" err="1"/>
              <a:t>ε</a:t>
            </a:r>
            <a:r>
              <a:rPr lang="en-US" sz="1400" dirty="0"/>
              <a:t>; 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/>
              <a:t>Neutral density </a:t>
            </a:r>
            <a:r>
              <a:rPr lang="en-US" sz="1400" dirty="0" err="1"/>
              <a:t>γ</a:t>
            </a:r>
            <a:r>
              <a:rPr lang="en-US" sz="1400" dirty="0"/>
              <a:t>ₙ from UNESCO equation; H from Sandwell et al. bathymetry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65DBBA-755E-993E-BAB1-1B8C251262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31" y="3747154"/>
            <a:ext cx="8937504" cy="12512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D9E21C8-61F5-4B81-534D-1E440FE9AF96}"/>
              </a:ext>
            </a:extLst>
          </p:cNvPr>
          <p:cNvSpPr txBox="1"/>
          <p:nvPr/>
        </p:nvSpPr>
        <p:spPr>
          <a:xfrm>
            <a:off x="4413989" y="145097"/>
            <a:ext cx="27529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/>
              <a:t>Geomar</a:t>
            </a:r>
            <a:r>
              <a:rPr lang="en-US" sz="1800" dirty="0"/>
              <a:t> dataset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4509323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2596F992-698C-48C0-9D89-70DA4CE92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614238" y="3172569"/>
            <a:ext cx="3112935" cy="135012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Dataset Characteristics &amp; Preprocessing</a:t>
            </a:r>
            <a:endParaRPr lang="en-US" sz="3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Grafik 5" descr="Ein Bild, das Text, Karte, Diagramm, Screenshot enthält.&#10;&#10;KI-generierte Inhalte können fehlerhaft sein.">
            <a:extLst>
              <a:ext uri="{FF2B5EF4-FFF2-40B4-BE49-F238E27FC236}">
                <a16:creationId xmlns:a16="http://schemas.microsoft.com/office/drawing/2014/main" id="{7767234F-9C42-9D09-5592-E39440C309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9157" y="80267"/>
            <a:ext cx="6086079" cy="3149546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3928371" y="3229813"/>
            <a:ext cx="4676451" cy="13501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114300">
              <a:lnSpc>
                <a:spcPct val="90000"/>
              </a:lnSpc>
              <a:spcAft>
                <a:spcPts val="600"/>
              </a:spcAft>
              <a:buSzPct val="100000"/>
            </a:pPr>
            <a:r>
              <a:rPr lang="en-US" sz="1100" dirty="0"/>
              <a:t>GEOMAR microstructure dataset: </a:t>
            </a:r>
          </a:p>
          <a:p>
            <a:pPr marL="358775" lvl="1" indent="-179388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100" dirty="0"/>
              <a:t>29 field experiments, </a:t>
            </a:r>
          </a:p>
          <a:p>
            <a:pPr marL="358775" lvl="1" indent="-179388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100" dirty="0"/>
              <a:t>4021 full-depth profiles</a:t>
            </a:r>
          </a:p>
          <a:p>
            <a:pPr marL="358775" lvl="1" indent="-179388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100" dirty="0"/>
              <a:t>8757401 Datapoints</a:t>
            </a:r>
          </a:p>
          <a:p>
            <a:pPr marL="358775" lvl="1" indent="-179388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100" dirty="0"/>
              <a:t>1165844 Datapoints after Processing + Exclusion of Validation Profile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7BFF8DC-0AE7-4AD2-9B28-2E5F26D62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804587"/>
            <a:ext cx="9143998" cy="34633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E0162AD-C6E5-4BF8-A453-76ADB3687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5" y="4804586"/>
            <a:ext cx="3057523" cy="348299"/>
          </a:xfrm>
          <a:prstGeom prst="rect">
            <a:avLst/>
          </a:prstGeom>
          <a:gradFill>
            <a:gsLst>
              <a:gs pos="19000">
                <a:srgbClr val="000000">
                  <a:alpha val="31000"/>
                </a:srgbClr>
              </a:gs>
              <a:gs pos="99000">
                <a:schemeClr val="accent1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350041" y="440141"/>
            <a:ext cx="2401025" cy="25406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Model Definition &amp; Evaluation</a:t>
            </a:r>
            <a:endParaRPr lang="en-US" sz="3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07694" y="487110"/>
            <a:ext cx="4916510" cy="41595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 b="1" dirty="0"/>
              <a:t>CART:</a:t>
            </a:r>
            <a:r>
              <a:rPr lang="en-US" sz="1500" dirty="0"/>
              <a:t> Bootstrap aggregated regression trees (</a:t>
            </a:r>
            <a:r>
              <a:rPr lang="en-US" sz="1500" dirty="0" err="1"/>
              <a:t>n_estimators</a:t>
            </a:r>
            <a:r>
              <a:rPr lang="en-US" sz="1500" dirty="0"/>
              <a:t>=500)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 b="1" dirty="0"/>
              <a:t>ResNet-FNN:</a:t>
            </a:r>
            <a:r>
              <a:rPr lang="en-US" sz="1500" dirty="0"/>
              <a:t> Skip connections + SGDR warm restarts regularization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 dirty="0"/>
              <a:t>Target variables: log₁₀(</a:t>
            </a:r>
            <a:r>
              <a:rPr lang="en-US" sz="1500" dirty="0" err="1"/>
              <a:t>ε</a:t>
            </a:r>
            <a:r>
              <a:rPr lang="en-US" sz="1500" dirty="0"/>
              <a:t>) -&gt; log₁₀(</a:t>
            </a:r>
            <a:r>
              <a:rPr lang="en-US" sz="1500" dirty="0" err="1"/>
              <a:t>κ</a:t>
            </a:r>
            <a:r>
              <a:rPr lang="en-US" sz="1500" dirty="0"/>
              <a:t>)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 dirty="0"/>
              <a:t>Validation: 10-fold stratified cross-validation across all 29 experiments (Minus validation)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350041" y="440141"/>
            <a:ext cx="2401025" cy="25406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Training Parameters</a:t>
            </a:r>
            <a:endParaRPr lang="en-US" sz="3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07693" y="487110"/>
            <a:ext cx="5186265" cy="41595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buSzPct val="100000"/>
            </a:pPr>
            <a:r>
              <a:rPr lang="en-US" sz="1400" b="1" u="sng" dirty="0"/>
              <a:t>cart = </a:t>
            </a:r>
            <a:r>
              <a:rPr lang="en-US" sz="1400" b="1" u="sng" dirty="0" err="1"/>
              <a:t>DecisionTreeRegressor</a:t>
            </a:r>
            <a:endParaRPr lang="en-US" sz="1400" b="1" u="sng" dirty="0"/>
          </a:p>
          <a:p>
            <a:r>
              <a:rPr lang="en-GB" sz="1400" dirty="0"/>
              <a:t> </a:t>
            </a:r>
            <a:r>
              <a:rPr lang="en-GB" sz="1400" dirty="0" err="1"/>
              <a:t>max_depth</a:t>
            </a:r>
            <a:r>
              <a:rPr lang="en-GB" sz="1400" dirty="0"/>
              <a:t>=8,           	# Max 8 levels → ~256 leaves max</a:t>
            </a:r>
          </a:p>
          <a:p>
            <a:r>
              <a:rPr lang="en-GB" sz="1400" dirty="0"/>
              <a:t> </a:t>
            </a:r>
            <a:r>
              <a:rPr lang="en-GB" sz="1400" dirty="0" err="1"/>
              <a:t>min_samples_split</a:t>
            </a:r>
            <a:r>
              <a:rPr lang="en-GB" sz="1400" dirty="0"/>
              <a:t>=20,   # Need ≥20 samples to split node</a:t>
            </a:r>
          </a:p>
          <a:p>
            <a:r>
              <a:rPr lang="en-GB" sz="1400" dirty="0"/>
              <a:t> </a:t>
            </a:r>
            <a:r>
              <a:rPr lang="en-GB" sz="1400" dirty="0" err="1"/>
              <a:t>min_samples_leaf</a:t>
            </a:r>
            <a:r>
              <a:rPr lang="en-GB" sz="1400" dirty="0"/>
              <a:t>=10,    # Each leaf ≥10 samples </a:t>
            </a:r>
          </a:p>
          <a:p>
            <a:r>
              <a:rPr lang="en-GB" sz="1400" dirty="0"/>
              <a:t> </a:t>
            </a:r>
            <a:r>
              <a:rPr lang="en-GB" sz="1400" dirty="0" err="1"/>
              <a:t>random_state</a:t>
            </a:r>
            <a:r>
              <a:rPr lang="en-GB" sz="1400" dirty="0"/>
              <a:t>=seed         # Reproducible splits</a:t>
            </a:r>
          </a:p>
          <a:p>
            <a:endParaRPr lang="en-US" sz="1500" dirty="0"/>
          </a:p>
          <a:p>
            <a:r>
              <a:rPr lang="en-GB" sz="1400" b="1" u="sng" dirty="0"/>
              <a:t>resmlp_10fold_with_cosine</a:t>
            </a:r>
          </a:p>
          <a:p>
            <a:r>
              <a:rPr lang="en-GB" sz="1400" dirty="0" err="1"/>
              <a:t>numLayers</a:t>
            </a:r>
            <a:r>
              <a:rPr lang="en-GB" sz="1400" dirty="0"/>
              <a:t>=3           # 3 residual MLP blocks (skip connections)</a:t>
            </a:r>
          </a:p>
          <a:p>
            <a:r>
              <a:rPr lang="en-GB" sz="1400" dirty="0" err="1"/>
              <a:t>nhidden</a:t>
            </a:r>
            <a:r>
              <a:rPr lang="en-GB" sz="1400" dirty="0"/>
              <a:t>=120           # 120 neurons per hidden layer</a:t>
            </a:r>
          </a:p>
          <a:p>
            <a:r>
              <a:rPr lang="en-GB" sz="1400" dirty="0" err="1"/>
              <a:t>lr_max</a:t>
            </a:r>
            <a:r>
              <a:rPr lang="en-GB" sz="1400" dirty="0"/>
              <a:t>=3.5e-3         # Peak learning rate (SGDR restarts)</a:t>
            </a:r>
          </a:p>
          <a:p>
            <a:r>
              <a:rPr lang="en-GB" sz="1400" dirty="0" err="1"/>
              <a:t>batch_size</a:t>
            </a:r>
            <a:r>
              <a:rPr lang="en-GB" sz="1400" dirty="0"/>
              <a:t>=1000     # Large batches → stable gradients</a:t>
            </a:r>
          </a:p>
          <a:p>
            <a:r>
              <a:rPr lang="en-GB" sz="1400" dirty="0" err="1"/>
              <a:t>num_epochs</a:t>
            </a:r>
            <a:r>
              <a:rPr lang="en-GB" sz="1400" dirty="0"/>
              <a:t>=50     # Total epochs (multiple SGDR cycles)</a:t>
            </a:r>
          </a:p>
          <a:p>
            <a:r>
              <a:rPr lang="en-GB" sz="1400" dirty="0" err="1"/>
              <a:t>zmin</a:t>
            </a:r>
            <a:r>
              <a:rPr lang="en-GB" sz="1400" dirty="0"/>
              <a:t>=-1062.0           # Depth normalization (Z → [0,1])</a:t>
            </a:r>
          </a:p>
        </p:txBody>
      </p:sp>
    </p:spTree>
    <p:extLst>
      <p:ext uri="{BB962C8B-B14F-4D97-AF65-F5344CB8AC3E}">
        <p14:creationId xmlns:p14="http://schemas.microsoft.com/office/powerpoint/2010/main" val="42758788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350041" y="440141"/>
            <a:ext cx="2401025" cy="25406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Preliminary </a:t>
            </a:r>
            <a:r>
              <a:rPr lang="en-US" sz="3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Results</a:t>
            </a:r>
            <a:endParaRPr lang="en-US" sz="3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07694" y="487110"/>
            <a:ext cx="4916510" cy="41595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sz="1500" dirty="0"/>
          </a:p>
        </p:txBody>
      </p:sp>
      <p:pic>
        <p:nvPicPr>
          <p:cNvPr id="5" name="Grafik 4" descr="Ein Bild, das Text, Diagramm, Reihe, Screenshot enthält.&#10;&#10;KI-generierte Inhalte können fehlerhaft sein.">
            <a:extLst>
              <a:ext uri="{FF2B5EF4-FFF2-40B4-BE49-F238E27FC236}">
                <a16:creationId xmlns:a16="http://schemas.microsoft.com/office/drawing/2014/main" id="{26EED5A4-586C-4EF9-15D4-FCCB53BCE7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8369" y="438669"/>
            <a:ext cx="3028378" cy="4056884"/>
          </a:xfrm>
          <a:prstGeom prst="rect">
            <a:avLst/>
          </a:prstGeom>
        </p:spPr>
      </p:pic>
      <p:pic>
        <p:nvPicPr>
          <p:cNvPr id="7" name="Grafik 6" descr="Ein Bild, das Text, Diagramm, Screenshot, Reihe enthält.&#10;&#10;KI-generierte Inhalte können fehlerhaft sein.">
            <a:extLst>
              <a:ext uri="{FF2B5EF4-FFF2-40B4-BE49-F238E27FC236}">
                <a16:creationId xmlns:a16="http://schemas.microsoft.com/office/drawing/2014/main" id="{12A9F337-C801-A528-B7EF-FF278F29D2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3336" y="438669"/>
            <a:ext cx="3028378" cy="4056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629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350041" y="440141"/>
            <a:ext cx="2401025" cy="25406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Preliminary </a:t>
            </a:r>
            <a:r>
              <a:rPr lang="en-US" sz="3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Results</a:t>
            </a:r>
            <a:endParaRPr lang="en-US" sz="3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07694" y="487110"/>
            <a:ext cx="4916510" cy="41595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sz="150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6EED5A4-586C-4EF9-15D4-FCCB53BCE7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028369" y="438669"/>
            <a:ext cx="3028378" cy="4056883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12A9F337-C801-A528-B7EF-FF278F29D2C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13336" y="438669"/>
            <a:ext cx="3028378" cy="4056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6261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350041" y="440141"/>
            <a:ext cx="2401025" cy="25406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Comparison</a:t>
            </a:r>
            <a:endParaRPr lang="en-US" sz="3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07694" y="487110"/>
            <a:ext cx="4916510" cy="41595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sz="1500" dirty="0"/>
          </a:p>
        </p:txBody>
      </p:sp>
      <p:pic>
        <p:nvPicPr>
          <p:cNvPr id="5" name="Grafik 4" descr="Ein Bild, das Text, Diagramm, Zahl, Karte enthält.&#10;&#10;KI-generierte Inhalte können fehlerhaft sein.">
            <a:extLst>
              <a:ext uri="{FF2B5EF4-FFF2-40B4-BE49-F238E27FC236}">
                <a16:creationId xmlns:a16="http://schemas.microsoft.com/office/drawing/2014/main" id="{D277D5D9-8A29-1DA5-25B9-44F86BD7D7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2076" y="228339"/>
            <a:ext cx="5162128" cy="4671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8551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350041" y="440141"/>
            <a:ext cx="2401025" cy="25406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Discussion, Conclusion &amp; Future Work</a:t>
            </a:r>
            <a:endParaRPr lang="en-US" sz="3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3692D8AB-BA94-CD5A-1EDA-E8B908C73186}"/>
              </a:ext>
            </a:extLst>
          </p:cNvPr>
          <p:cNvSpPr/>
          <p:nvPr/>
        </p:nvSpPr>
        <p:spPr>
          <a:xfrm>
            <a:off x="3038505" y="69337"/>
            <a:ext cx="6093066" cy="4808438"/>
          </a:xfrm>
          <a:prstGeom prst="rect">
            <a:avLst/>
          </a:prstGeom>
        </p:spPr>
        <p:txBody>
          <a:bodyPr vert="horz" lIns="72000" tIns="45720" rIns="36000" bIns="45720" rtlCol="0" anchor="t">
            <a:normAutofit/>
          </a:bodyPr>
          <a:lstStyle/>
          <a:p>
            <a:endParaRPr lang="en-GB" sz="1600" b="1" dirty="0"/>
          </a:p>
          <a:p>
            <a:endParaRPr lang="en-GB" sz="1600" b="1" dirty="0"/>
          </a:p>
          <a:p>
            <a:r>
              <a:rPr lang="en-GB" sz="1600" b="1" dirty="0"/>
              <a:t>Discussion</a:t>
            </a:r>
            <a:endParaRPr lang="en-GB" sz="1400" b="1" dirty="0"/>
          </a:p>
          <a:p>
            <a:pPr marL="184150" indent="-184150">
              <a:buFont typeface="Arial" panose="020B0604020202020204" pitchFamily="34" charset="0"/>
              <a:buChar char="•"/>
            </a:pPr>
            <a:r>
              <a:rPr lang="en-GB" sz="1300" dirty="0"/>
              <a:t>ML (CART-bagging, NNs) predicts </a:t>
            </a:r>
            <a:r>
              <a:rPr lang="el-GR" sz="1300" dirty="0"/>
              <a:t>ε → κ </a:t>
            </a:r>
            <a:r>
              <a:rPr lang="en-GB" sz="1300" dirty="0"/>
              <a:t>from T/S/Z/N²/</a:t>
            </a:r>
            <a:r>
              <a:rPr lang="en-GB" sz="1300" dirty="0" err="1"/>
              <a:t>hab</a:t>
            </a:r>
            <a:r>
              <a:rPr lang="en-GB" sz="1300" dirty="0"/>
              <a:t>/</a:t>
            </a:r>
            <a:r>
              <a:rPr lang="en-GB" sz="1300" dirty="0" err="1"/>
              <a:t>lat</a:t>
            </a:r>
            <a:r>
              <a:rPr lang="en-GB" sz="1300" dirty="0"/>
              <a:t> with skill</a:t>
            </a:r>
          </a:p>
          <a:p>
            <a:pPr marL="184150" indent="-184150">
              <a:buFont typeface="Arial" panose="020B0604020202020204" pitchFamily="34" charset="0"/>
              <a:buChar char="•"/>
            </a:pPr>
            <a:r>
              <a:rPr lang="en-GB" sz="1300" dirty="0"/>
              <a:t>Regional variability: Performance differs by field program (data imbalance, physics)</a:t>
            </a:r>
          </a:p>
          <a:p>
            <a:pPr marL="184150" indent="-184150">
              <a:buFont typeface="Arial" panose="020B0604020202020204" pitchFamily="34" charset="0"/>
              <a:buChar char="•"/>
            </a:pPr>
            <a:r>
              <a:rPr lang="en-GB" sz="1300" dirty="0"/>
              <a:t>Outperforms classical </a:t>
            </a:r>
            <a:r>
              <a:rPr lang="en-GB" sz="1300" dirty="0" err="1"/>
              <a:t>finestructure</a:t>
            </a:r>
            <a:r>
              <a:rPr lang="en-GB" sz="1300" dirty="0"/>
              <a:t> schemes, especially </a:t>
            </a:r>
            <a:r>
              <a:rPr lang="el-GR" sz="1300" dirty="0"/>
              <a:t>κ </a:t>
            </a:r>
            <a:r>
              <a:rPr lang="en-GB" sz="1300" dirty="0"/>
              <a:t>inference</a:t>
            </a:r>
          </a:p>
          <a:p>
            <a:pPr marL="184150" indent="-184150">
              <a:buFont typeface="Arial" panose="020B0604020202020204" pitchFamily="34" charset="0"/>
              <a:buChar char="•"/>
            </a:pPr>
            <a:r>
              <a:rPr lang="en-GB" sz="1300" dirty="0"/>
              <a:t>Aligns Cael &amp; </a:t>
            </a:r>
            <a:r>
              <a:rPr lang="en-GB" sz="1300" dirty="0" err="1"/>
              <a:t>Mashayek</a:t>
            </a:r>
            <a:r>
              <a:rPr lang="en-GB" sz="1300" dirty="0"/>
              <a:t> (2021) log-skew-normal </a:t>
            </a:r>
            <a:r>
              <a:rPr lang="el-GR" sz="1300" dirty="0"/>
              <a:t>ε </a:t>
            </a:r>
            <a:r>
              <a:rPr lang="en-GB" sz="1300" dirty="0"/>
              <a:t>universality</a:t>
            </a:r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r>
              <a:rPr lang="en-GB" sz="1600" b="1" dirty="0"/>
              <a:t>Conclusions</a:t>
            </a:r>
            <a:endParaRPr lang="en-GB" sz="1400" b="1" dirty="0"/>
          </a:p>
          <a:p>
            <a:pPr marL="184150" indent="-184150">
              <a:buFont typeface="Arial" panose="020B0604020202020204" pitchFamily="34" charset="0"/>
              <a:buChar char="•"/>
            </a:pPr>
            <a:r>
              <a:rPr lang="en-GB" sz="1300" dirty="0"/>
              <a:t>Physics-AI enables global interior mixing from hydrography + bathymetry</a:t>
            </a:r>
          </a:p>
          <a:p>
            <a:pPr marL="184150" indent="-184150">
              <a:buFont typeface="Arial" panose="020B0604020202020204" pitchFamily="34" charset="0"/>
              <a:buChar char="•"/>
            </a:pPr>
            <a:r>
              <a:rPr lang="en-GB" sz="1300" dirty="0"/>
              <a:t>Minimal controls: stratification + boundaries (</a:t>
            </a:r>
            <a:r>
              <a:rPr lang="en-GB" sz="1300" dirty="0" err="1"/>
              <a:t>hab</a:t>
            </a:r>
            <a:r>
              <a:rPr lang="en-GB" sz="1300" dirty="0"/>
              <a:t>) + latitude → </a:t>
            </a:r>
            <a:r>
              <a:rPr lang="el-GR" sz="1300" dirty="0"/>
              <a:t>ε, κ </a:t>
            </a:r>
            <a:r>
              <a:rPr lang="en-GB" sz="1300" dirty="0"/>
              <a:t>to leading order</a:t>
            </a:r>
          </a:p>
          <a:p>
            <a:pPr marL="184150" indent="-184150">
              <a:buFont typeface="Arial" panose="020B0604020202020204" pitchFamily="34" charset="0"/>
              <a:buChar char="•"/>
            </a:pPr>
            <a:r>
              <a:rPr lang="en-GB" sz="1300" dirty="0"/>
              <a:t>Data-driven universality confirms log-skew-normal dissipation statistics</a:t>
            </a:r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r>
              <a:rPr lang="en-GB" sz="1600" b="1" dirty="0"/>
              <a:t>Future</a:t>
            </a:r>
            <a:r>
              <a:rPr lang="en-GB" sz="1400" b="1" dirty="0"/>
              <a:t> Work</a:t>
            </a:r>
          </a:p>
          <a:p>
            <a:pPr marL="184150" indent="-184150">
              <a:buFont typeface="Arial" panose="020B0604020202020204" pitchFamily="34" charset="0"/>
              <a:buChar char="•"/>
            </a:pPr>
            <a:r>
              <a:rPr lang="en-GB" sz="1300" dirty="0"/>
              <a:t>Harmonized global </a:t>
            </a:r>
            <a:r>
              <a:rPr lang="el-GR" sz="1300" dirty="0"/>
              <a:t>ε </a:t>
            </a:r>
            <a:r>
              <a:rPr lang="en-GB" sz="1300" dirty="0"/>
              <a:t>datasets (gliders, moorings) → better generalization</a:t>
            </a:r>
          </a:p>
          <a:p>
            <a:pPr marL="184150" indent="-184150">
              <a:buFont typeface="Arial" panose="020B0604020202020204" pitchFamily="34" charset="0"/>
              <a:buChar char="•"/>
            </a:pPr>
            <a:r>
              <a:rPr lang="en-GB" sz="1300" dirty="0"/>
              <a:t>Non-local drivers: wind/tide energy input, internal waves</a:t>
            </a:r>
          </a:p>
          <a:p>
            <a:pPr marL="184150" indent="-184150">
              <a:buFont typeface="Arial" panose="020B0604020202020204" pitchFamily="34" charset="0"/>
              <a:buChar char="•"/>
            </a:pPr>
            <a:r>
              <a:rPr lang="en-GB" sz="1300" dirty="0"/>
              <a:t>Vertical resolution sensitivity + physics-informed losses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C08B0641-1352-B084-4050-CF2D639E5973}"/>
              </a:ext>
            </a:extLst>
          </p:cNvPr>
          <p:cNvSpPr/>
          <p:nvPr/>
        </p:nvSpPr>
        <p:spPr>
          <a:xfrm>
            <a:off x="350041" y="440141"/>
            <a:ext cx="2401025" cy="25406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References</a:t>
            </a:r>
            <a:endParaRPr lang="en-US" sz="3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174C4A43-3096-45C2-3858-27C2F031FBC7}"/>
              </a:ext>
            </a:extLst>
          </p:cNvPr>
          <p:cNvSpPr/>
          <p:nvPr/>
        </p:nvSpPr>
        <p:spPr>
          <a:xfrm>
            <a:off x="3607694" y="487110"/>
            <a:ext cx="4916510" cy="41595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buSzPct val="100000"/>
            </a:pPr>
            <a:r>
              <a:rPr lang="en-GB" sz="1600" dirty="0"/>
              <a:t>Zhu, Y., Zhang, Z., Qian, Y., Li, X., &amp; Wang, B. (2022). </a:t>
            </a:r>
            <a:r>
              <a:rPr lang="en-GB" sz="1600" i="1" dirty="0"/>
              <a:t>Physics-informed deep-learning parameterization of ocean vertical mixing improves climate simulations</a:t>
            </a:r>
            <a:r>
              <a:rPr lang="en-GB" sz="1600" dirty="0"/>
              <a:t>. </a:t>
            </a:r>
            <a:r>
              <a:rPr lang="en-GB" sz="1600" b="1" dirty="0"/>
              <a:t>Nature Communications, 13</a:t>
            </a:r>
            <a:r>
              <a:rPr lang="en-GB" sz="1600" dirty="0"/>
              <a:t>, 5706. https://</a:t>
            </a:r>
            <a:r>
              <a:rPr lang="en-GB" sz="1600" dirty="0" err="1"/>
              <a:t>doi.org</a:t>
            </a:r>
            <a:r>
              <a:rPr lang="en-GB" sz="1600" dirty="0"/>
              <a:t>/10.1038/s41467-022-33404-5</a:t>
            </a:r>
          </a:p>
          <a:p>
            <a:pPr>
              <a:lnSpc>
                <a:spcPct val="90000"/>
              </a:lnSpc>
              <a:spcAft>
                <a:spcPts val="600"/>
              </a:spcAft>
              <a:buSzPct val="100000"/>
            </a:pPr>
            <a:r>
              <a:rPr lang="en-GB" sz="1600" dirty="0"/>
              <a:t>Cael, B. B., &amp; </a:t>
            </a:r>
            <a:r>
              <a:rPr lang="en-GB" sz="1600" dirty="0" err="1"/>
              <a:t>Mashayek</a:t>
            </a:r>
            <a:r>
              <a:rPr lang="en-GB" sz="1600" dirty="0"/>
              <a:t>, A. (2021). </a:t>
            </a:r>
            <a:r>
              <a:rPr lang="en-GB" sz="1600" i="1" dirty="0"/>
              <a:t>Log-skew-normal universality in global turbulence distributions</a:t>
            </a:r>
            <a:r>
              <a:rPr lang="en-GB" sz="1600" dirty="0"/>
              <a:t>. </a:t>
            </a:r>
            <a:r>
              <a:rPr lang="en-GB" sz="1600" b="1" dirty="0"/>
              <a:t>Nature Geoscience, 14</a:t>
            </a:r>
            <a:r>
              <a:rPr lang="en-GB" sz="1600" dirty="0"/>
              <a:t>, 915–921. </a:t>
            </a:r>
            <a:r>
              <a:rPr lang="en-GB" sz="1600" dirty="0">
                <a:hlinkClick r:id="rId3"/>
              </a:rPr>
              <a:t>https://doi.org/10.1038/s41561-021-00854-9</a:t>
            </a:r>
            <a:endParaRPr lang="en-GB" sz="1600" dirty="0"/>
          </a:p>
          <a:p>
            <a:pPr>
              <a:lnSpc>
                <a:spcPct val="90000"/>
              </a:lnSpc>
              <a:spcAft>
                <a:spcPts val="600"/>
              </a:spcAft>
              <a:buSzPct val="100000"/>
            </a:pPr>
            <a:r>
              <a:rPr lang="en-GB" sz="1600" dirty="0"/>
              <a:t>Polzin, K. L. (2014). </a:t>
            </a:r>
            <a:r>
              <a:rPr lang="en-GB" sz="1600" i="1" dirty="0"/>
              <a:t>A heuristic description of internal wave dynamics leading to mixing</a:t>
            </a:r>
            <a:r>
              <a:rPr lang="en-GB" sz="1600" dirty="0"/>
              <a:t>. </a:t>
            </a:r>
            <a:r>
              <a:rPr lang="en-GB" sz="1600" b="1" dirty="0"/>
              <a:t>Journal of Physical Oceanography, 44</a:t>
            </a:r>
            <a:r>
              <a:rPr lang="en-GB" sz="1600" dirty="0"/>
              <a:t>(3), 907–932. https://</a:t>
            </a:r>
            <a:r>
              <a:rPr lang="en-GB" sz="1600" dirty="0" err="1"/>
              <a:t>doi.org</a:t>
            </a:r>
            <a:r>
              <a:rPr lang="en-GB" sz="1600" dirty="0"/>
              <a:t>/10.1175/JPO-D-13-0153.1</a:t>
            </a:r>
            <a:endParaRPr lang="en-US" sz="1500" dirty="0"/>
          </a:p>
          <a:p>
            <a:pPr>
              <a:lnSpc>
                <a:spcPct val="90000"/>
              </a:lnSpc>
              <a:spcAft>
                <a:spcPts val="600"/>
              </a:spcAft>
              <a:buSzPct val="100000"/>
            </a:pP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3775467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72625" y="2213595"/>
            <a:ext cx="299875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Application</a:t>
            </a:r>
            <a:endParaRPr lang="en-US" sz="2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2903" y="2023170"/>
            <a:ext cx="1278120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&amp; 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982239" y="2800350"/>
            <a:ext cx="117952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991</TotalTime>
  <Words>844</Words>
  <Application>Microsoft Macintosh PowerPoint</Application>
  <PresentationFormat>On-screen Show (16:9)</PresentationFormat>
  <Paragraphs>108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8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stephan pries</cp:lastModifiedBy>
  <cp:revision>19</cp:revision>
  <dcterms:created xsi:type="dcterms:W3CDTF">2026-01-26T13:43:15Z</dcterms:created>
  <dcterms:modified xsi:type="dcterms:W3CDTF">2026-01-28T07:50:56Z</dcterms:modified>
</cp:coreProperties>
</file>